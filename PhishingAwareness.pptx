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0"/>
            <a:ext cx="0" cy="514350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0"/>
            <a:ext cx="0" cy="514350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🎣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2377440" y="4572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 ATTACKS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2377440" y="1737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· Avoid · Stay Safe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377440" y="2331720"/>
            <a:ext cx="5943600" cy="36576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2468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security awareness training on how attackers use phishing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steal credentials, spread malware, and compromise organizations.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1627632" cy="402336"/>
          </a:xfrm>
          <a:prstGeom prst="roundRect">
            <a:avLst>
              <a:gd name="adj" fmla="val 18182"/>
            </a:avLst>
          </a:prstGeom>
          <a:solidFill>
            <a:srgbClr val="16223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20624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BCCF"/>
                </a:solidFill>
              </a:rPr>
              <a:t>Email Phishing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39696" y="4206240"/>
            <a:ext cx="1627632" cy="402336"/>
          </a:xfrm>
          <a:prstGeom prst="roundRect">
            <a:avLst>
              <a:gd name="adj" fmla="val 18182"/>
            </a:avLst>
          </a:prstGeom>
          <a:solidFill>
            <a:srgbClr val="162232"/>
          </a:solidFill>
          <a:ln/>
        </p:spPr>
      </p:sp>
      <p:sp>
        <p:nvSpPr>
          <p:cNvPr id="24" name="Text 22"/>
          <p:cNvSpPr/>
          <p:nvPr/>
        </p:nvSpPr>
        <p:spPr>
          <a:xfrm>
            <a:off x="2139696" y="420624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BCCF"/>
                </a:solidFill>
              </a:rPr>
              <a:t>Social Engineering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13632" y="4206240"/>
            <a:ext cx="1627632" cy="402336"/>
          </a:xfrm>
          <a:prstGeom prst="roundRect">
            <a:avLst>
              <a:gd name="adj" fmla="val 18182"/>
            </a:avLst>
          </a:prstGeom>
          <a:solidFill>
            <a:srgbClr val="162232"/>
          </a:solidFill>
          <a:ln/>
        </p:spPr>
      </p:sp>
      <p:sp>
        <p:nvSpPr>
          <p:cNvPr id="26" name="Text 24"/>
          <p:cNvSpPr/>
          <p:nvPr/>
        </p:nvSpPr>
        <p:spPr>
          <a:xfrm>
            <a:off x="3913632" y="420624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BCCF"/>
                </a:solidFill>
              </a:rPr>
              <a:t>Fake Websites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87568" y="4206240"/>
            <a:ext cx="1627632" cy="402336"/>
          </a:xfrm>
          <a:prstGeom prst="roundRect">
            <a:avLst>
              <a:gd name="adj" fmla="val 18182"/>
            </a:avLst>
          </a:prstGeom>
          <a:solidFill>
            <a:srgbClr val="162232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420624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BCCF"/>
                </a:solidFill>
              </a:rPr>
              <a:t>Smishing &amp; Vishing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61504" y="4206240"/>
            <a:ext cx="1627632" cy="402336"/>
          </a:xfrm>
          <a:prstGeom prst="roundRect">
            <a:avLst>
              <a:gd name="adj" fmla="val 18182"/>
            </a:avLst>
          </a:prstGeom>
          <a:solidFill>
            <a:srgbClr val="162232"/>
          </a:solidFill>
          <a:ln/>
        </p:spPr>
      </p:sp>
      <p:sp>
        <p:nvSpPr>
          <p:cNvPr id="30" name="Text 28"/>
          <p:cNvSpPr/>
          <p:nvPr/>
        </p:nvSpPr>
        <p:spPr>
          <a:xfrm>
            <a:off x="7461504" y="420624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BCCF"/>
                </a:solidFill>
              </a:rPr>
              <a:t>Best Practices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470"/>
                </a:solidFill>
              </a:rPr>
              <a:t>Security Awareness Training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PHISHING?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8046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trusted entities — banks, companies, or colleagues — to trick victims into revealing sensitive information, clicking malicious links, or downloading malware.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1965960" cy="13258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148840"/>
            <a:ext cx="1965960" cy="64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1945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Phishing emails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per day worldwide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2148840"/>
            <a:ext cx="1965960" cy="13258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2" name="Shape 10"/>
          <p:cNvSpPr/>
          <p:nvPr/>
        </p:nvSpPr>
        <p:spPr>
          <a:xfrm>
            <a:off x="2450592" y="2148840"/>
            <a:ext cx="1965960" cy="64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21945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50592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Of breaches involve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phishing attacks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2148840"/>
            <a:ext cx="1965960" cy="13258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26864" y="2148840"/>
            <a:ext cx="1965960" cy="64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21945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$17,700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26864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Lost per minute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to phishing globally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2148840"/>
            <a:ext cx="1965960" cy="13258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0" name="Shape 18"/>
          <p:cNvSpPr/>
          <p:nvPr/>
        </p:nvSpPr>
        <p:spPr>
          <a:xfrm>
            <a:off x="6803136" y="2148840"/>
            <a:ext cx="1965960" cy="64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21945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03136" y="28346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Of organizations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faced phishing in 2023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Phishing — Mass emails impersonating trusted brands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Spear Phishing — Targeted attacks using personal info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Whaling — Targeting executives and high-value individuals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Smishing &amp; Vishing — SMS and phone call-based attacks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2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RECOGNIZING PHISHING EMAILS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97680" cy="393192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14400"/>
            <a:ext cx="4297680" cy="411480"/>
          </a:xfrm>
          <a:prstGeom prst="rect">
            <a:avLst/>
          </a:prstGeom>
          <a:solidFill>
            <a:srgbClr val="26304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📧  SUSPICIOUS EMAIL EXAMPLE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BCCF"/>
                </a:solidFill>
              </a:rPr>
              <a:t>FROM: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</a:rPr>
              <a:t>security@paypa1.support.ru  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282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BCCF"/>
                </a:solidFill>
              </a:rPr>
              <a:t>TO: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1728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you@company.com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039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BCCF"/>
                </a:solidFill>
              </a:rPr>
              <a:t>SUBJECT: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URGENT: Account suspended! Act Now!!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377440"/>
            <a:ext cx="4114800" cy="0"/>
          </a:xfrm>
          <a:prstGeom prst="line">
            <a:avLst/>
          </a:prstGeom>
          <a:noFill/>
          <a:ln w="12700">
            <a:solidFill>
              <a:srgbClr val="2A3F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231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C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Dear Valued Customer,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C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account has been SUSPENDED due to unusual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C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activity. Click below IMMEDIATELY to verify your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C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or lose access permanently!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C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[VERIFY ACCOUNT NOW] 🔗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C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https://paypa1-secure-login.xyz/verify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C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within 24 HOURS or account will be DELETED.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FLAGS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1298448"/>
            <a:ext cx="4160520" cy="47548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298448"/>
            <a:ext cx="91440" cy="47548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129844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① Spoofed sender domain (paypa1 not paypal)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847088"/>
            <a:ext cx="4160520" cy="47548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1847088"/>
            <a:ext cx="91440" cy="47548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184708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② Generic greeting — no name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395728"/>
            <a:ext cx="4160520" cy="47548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2395728"/>
            <a:ext cx="91440" cy="47548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39572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③ ALL CAPS urgency tactics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944368"/>
            <a:ext cx="4160520" cy="47548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2944368"/>
            <a:ext cx="91440" cy="47548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294436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④ Suspicious URL (.xyz domain)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493008"/>
            <a:ext cx="4160520" cy="47548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3493008"/>
            <a:ext cx="91440" cy="47548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34930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⑤ Threatening language &amp; deadlines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41148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When in doubt — DON'T click. Contact the sender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2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SPOTTING FAKE WEBSITES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URL INSPECTION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CCF"/>
                </a:solidFill>
              </a:rPr>
              <a:t>PayPal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206240" cy="292608"/>
          </a:xfrm>
          <a:prstGeom prst="rect">
            <a:avLst/>
          </a:prstGeom>
          <a:solidFill>
            <a:srgbClr val="0D2B1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72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https://www.paypal.com/signin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4206240" cy="292608"/>
          </a:xfrm>
          <a:prstGeom prst="rect">
            <a:avLst/>
          </a:prstGeom>
          <a:solidFill>
            <a:srgbClr val="2B0D0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92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https://paypa1-secure.xyz/signin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3682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CCF"/>
                </a:solidFill>
              </a:rPr>
              <a:t>Microsoft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642616"/>
            <a:ext cx="4206240" cy="292608"/>
          </a:xfrm>
          <a:prstGeom prst="rect">
            <a:avLst/>
          </a:prstGeom>
          <a:solidFill>
            <a:srgbClr val="0D2B1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6426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https://login.microsoft.com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206240" cy="292608"/>
          </a:xfrm>
          <a:prstGeom prst="rect">
            <a:avLst/>
          </a:prstGeom>
          <a:solidFill>
            <a:srgbClr val="2B0D0D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626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https://micros0ft-login.support.ru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438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CCF"/>
                </a:solidFill>
              </a:rPr>
              <a:t>Amazon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12464"/>
            <a:ext cx="4206240" cy="292608"/>
          </a:xfrm>
          <a:prstGeom prst="rect">
            <a:avLst/>
          </a:prstGeom>
          <a:solidFill>
            <a:srgbClr val="0D2B1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7124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https://www.amazon.com/account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032504"/>
            <a:ext cx="4206240" cy="292608"/>
          </a:xfrm>
          <a:prstGeom prst="rect">
            <a:avLst/>
          </a:prstGeom>
          <a:solidFill>
            <a:srgbClr val="2B0D0D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325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https://amazon-verify-account.top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VERIFICATION CHECKLIST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298448"/>
            <a:ext cx="4206240" cy="621792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29844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1335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 HTTPS lock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Look for padlock icon in the address bar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993392"/>
            <a:ext cx="4206240" cy="621792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99339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2029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Inspect the URL carefully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295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Watch for typos: 0→o, 1→l, rn→m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688336"/>
            <a:ext cx="4206240" cy="621792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68833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Verify the domain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Real domain appears right before .com/.org/.net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383280"/>
            <a:ext cx="4206240" cy="621792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38328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3419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 contact info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685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Fake sites often have no real contact details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078224"/>
            <a:ext cx="4206240" cy="621792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407822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4924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browser warnings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4379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Never ignore red safety warning pages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2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SOCIAL ENGINEERING TACTICS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"Attackers exploit human psychology, not just technology."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34640" cy="15544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417320"/>
            <a:ext cx="28346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4904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URGENCY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Creates panic: "Act NOW or your account will be deleted!"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834640" cy="15544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417320"/>
            <a:ext cx="28346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4904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4612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"Your computer is infected. Call Microsoft immediately!"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834640" cy="15544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417320"/>
            <a:ext cx="28346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4904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Impersonates IT, CEO, or government to demand compliance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2834640" cy="15544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108960"/>
            <a:ext cx="28346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1821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🎁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7432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"You've won a prize! Click here to claim your reward."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108960"/>
            <a:ext cx="2834640" cy="15544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7" name="Shape 25"/>
          <p:cNvSpPr/>
          <p:nvPr/>
        </p:nvSpPr>
        <p:spPr>
          <a:xfrm>
            <a:off x="3246120" y="3108960"/>
            <a:ext cx="28346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31821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24612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FAMILIARITY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3756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Uses your name, company, or colleagues to build false trust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3108960"/>
            <a:ext cx="2834640" cy="15544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3108960"/>
            <a:ext cx="28346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1821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21792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RECIPROCITY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"We're doing you a favor — just provide your login to verify."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🛡️  BEST PRACTICES TO STAY SAFE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685800" cy="1188720"/>
          </a:xfrm>
          <a:prstGeom prst="rect">
            <a:avLst/>
          </a:prstGeom>
          <a:solidFill>
            <a:srgbClr val="1A352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9875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Enable Multi-Factor Authentication (MFA)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34416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Even if attackers steal your password, MFA blocks unauthorized access.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18872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14400"/>
            <a:ext cx="685800" cy="1188720"/>
          </a:xfrm>
          <a:prstGeom prst="rect">
            <a:avLst/>
          </a:prstGeom>
          <a:solidFill>
            <a:srgbClr val="1A352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1440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9875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Think Before You Click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34416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Hover over links to preview the URL. Never click suspicious links in emails.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240280"/>
            <a:ext cx="685800" cy="1188720"/>
          </a:xfrm>
          <a:prstGeom prst="rect">
            <a:avLst/>
          </a:prstGeom>
          <a:solidFill>
            <a:srgbClr val="1A352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4028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3134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Verify Senders Independently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67004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Call the person/organization using a known number — never use contact info from the suspicious message.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06240" cy="118872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240280"/>
            <a:ext cx="685800" cy="1188720"/>
          </a:xfrm>
          <a:prstGeom prst="rect">
            <a:avLst/>
          </a:prstGeom>
          <a:solidFill>
            <a:srgbClr val="1A352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24028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23134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Keep Software Updated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67004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Patches fix vulnerabilities exploited by malware delivered through phishing.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566160"/>
            <a:ext cx="685800" cy="1188720"/>
          </a:xfrm>
          <a:prstGeom prst="rect">
            <a:avLst/>
          </a:prstGeom>
          <a:solidFill>
            <a:srgbClr val="1A352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56616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6393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a Password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9959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Strong, unique passwords for every site prevent credential stuffing attacks.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18872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566160"/>
            <a:ext cx="685800" cy="1188720"/>
          </a:xfrm>
          <a:prstGeom prst="rect">
            <a:avLst/>
          </a:prstGeom>
          <a:solidFill>
            <a:srgbClr val="1A352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56616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36393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 Suspicious Messages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39959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CCF"/>
                </a:solidFill>
              </a:rPr>
              <a:t>Report phishing to your IT/security team immediately — you could save colleagues too.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AE60"/>
                </a:solidFill>
              </a:rPr>
              <a:t>✅  If you're unsure about a message, report it rather than ignoring it.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2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📰  REAL-WORLD PHISHING EXAMPLES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120700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14400"/>
            <a:ext cx="109728" cy="1207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14400"/>
            <a:ext cx="822960" cy="120700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144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49961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CF"/>
                </a:solidFill>
              </a:rPr>
              <a:t>$100M+ lost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52728" y="9692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$100M Google &amp; Facebook Scam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52728" y="129844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040"/>
                </a:solidFill>
              </a:rPr>
              <a:t>Tactic: Business Email Compromise (BEC)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52728" y="153619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A Lithuanian hacker sent fake invoices impersonating Quanta Computer, tricking both tech giants into wiring over $100 million. Funds were eventually recovered after arrest.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8503920" cy="120700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258568"/>
            <a:ext cx="109728" cy="1207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258568"/>
            <a:ext cx="822960" cy="120700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2585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" y="28437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CF"/>
                </a:solidFill>
              </a:rPr>
              <a:t>130 accounts hijacked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52728" y="231343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Twitter Bitcoin Hack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52728" y="264261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Tactic: Phone Spear Phishing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52728" y="2880360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Attackers called Twitter employees, impersonating the IT dept, to obtain credentials. They hijacked accounts of Elon Musk, Barack Obama, and others for a Bitcoin scam.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602736"/>
            <a:ext cx="8503920" cy="120700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602736"/>
            <a:ext cx="109728" cy="120700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602736"/>
            <a:ext cx="822960" cy="1207008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60273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0040" y="41879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CCF"/>
                </a:solidFill>
              </a:rPr>
              <a:t>209 employees targeted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252728" y="36576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Twilio &amp; Cloudflare SMS Attack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52728" y="398678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96F3"/>
                </a:solidFill>
              </a:rPr>
              <a:t>Tactic: Smishing + MFA Bypass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52728" y="422452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Employees received fake Okta login SMS alerts. Attackers harvested credentials in real time and attempted MFA bypass — Cloudflare blocked it; Twilio was breached.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⚡  These attacks work because they target PEOPLE, not just systems.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🧩  QUICK QUIZ — TEST YOUR KNOWLEDGE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261872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109728" cy="1261872"/>
          </a:xfrm>
          <a:prstGeom prst="rect">
            <a:avLst/>
          </a:prstGeom>
          <a:solidFill>
            <a:srgbClr val="6C3DCF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235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Q1.  You receive an email from 'IT Support' asking for your password to "fix your account." What do you do?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A) Provide it — IT needs access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B) Ignore the email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3624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</a:rPr>
              <a:t>C) Report to real IT &amp; don't share the password ✅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63440" y="1691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D) Click the link in the email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58568"/>
            <a:ext cx="8503920" cy="1261872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258568"/>
            <a:ext cx="109728" cy="1261872"/>
          </a:xfrm>
          <a:prstGeom prst="rect">
            <a:avLst/>
          </a:prstGeom>
          <a:solidFill>
            <a:srgbClr val="6C3DCF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3134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Q2.  Which URL is SAFE to enter your bank credentials?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7523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A) https://mybank-secure-login.com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</a:rPr>
              <a:t>B) https://www.mybank.com/login ✅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27523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C) http://mybank.verify-account.net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30815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D) https://mybank.support-center.ru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48456"/>
            <a:ext cx="8503920" cy="1261872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648456"/>
            <a:ext cx="109728" cy="1261872"/>
          </a:xfrm>
          <a:prstGeom prst="rect">
            <a:avLst/>
          </a:prstGeom>
          <a:solidFill>
            <a:srgbClr val="6C3DC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703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Q3.  A phone caller says you owe taxes and must pay via gift cards or face arrest. This is: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4142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A) A real government process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4471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</a:rPr>
              <a:t>B) A common vishing scam ✅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41422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C) A legitimate payment request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44714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D) A banking security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470"/>
                </a:solidFill>
              </a:rPr>
              <a:t>✅ = Correct answer  |  Discuss each scenario with your team!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PHISHING-PROOF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Your 5-step personal action plan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600200" cy="29260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0"/>
            <a:ext cx="1600200" cy="64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9019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Activate MFA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3310128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Enable on email, banking, and all critical accounts today.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0" y="1828800"/>
            <a:ext cx="1600200" cy="29260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1828800"/>
            <a:ext cx="1600200" cy="64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19019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1168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Pause &amp; Verify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84832" y="3310128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Never rush. Urgency is a manipulation tactic — slow down.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49040" y="1828800"/>
            <a:ext cx="1600200" cy="29260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9040" y="1828800"/>
            <a:ext cx="1600200" cy="64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9019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4904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74904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Links First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22192" y="3310128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Hover before clicking. Type URLs directly into browser.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1828800"/>
            <a:ext cx="1600200" cy="29260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1828800"/>
            <a:ext cx="1600200" cy="64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19019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48640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 Phishing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59552" y="3310128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Forward suspicious emails to your IT/security team immediately.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23760" y="1828800"/>
            <a:ext cx="1600200" cy="2926080"/>
          </a:xfrm>
          <a:prstGeom prst="rect">
            <a:avLst/>
          </a:prstGeom>
          <a:solidFill>
            <a:srgbClr val="1C2E40"/>
          </a:solidFill>
          <a:ln/>
        </p:spPr>
      </p:sp>
      <p:sp>
        <p:nvSpPr>
          <p:cNvPr id="30" name="Shape 28"/>
          <p:cNvSpPr/>
          <p:nvPr/>
        </p:nvSpPr>
        <p:spPr>
          <a:xfrm>
            <a:off x="7223760" y="1828800"/>
            <a:ext cx="1600200" cy="64008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19019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2286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223760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Educated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96912" y="3310128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CCF"/>
                </a:solidFill>
              </a:rPr>
              <a:t>Attend regular security training. Share this with your team!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🔒  Security is everyone's responsibility. When in doubt — STOP, THINK, REPORT.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Attacks: Recognize, Avoid, Stay Safe</dc:title>
  <dc:subject>PptxGenJS Presentation</dc:subject>
  <dc:creator>PptxGenJS</dc:creator>
  <cp:lastModifiedBy>PptxGenJS</cp:lastModifiedBy>
  <cp:revision>1</cp:revision>
  <dcterms:created xsi:type="dcterms:W3CDTF">2026-03-29T11:15:09Z</dcterms:created>
  <dcterms:modified xsi:type="dcterms:W3CDTF">2026-03-29T11:15:09Z</dcterms:modified>
</cp:coreProperties>
</file>